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74" r:id="rId4"/>
    <p:sldId id="276" r:id="rId5"/>
    <p:sldId id="267" r:id="rId6"/>
    <p:sldId id="259" r:id="rId7"/>
    <p:sldId id="275" r:id="rId8"/>
    <p:sldId id="257" r:id="rId9"/>
    <p:sldId id="265" r:id="rId10"/>
    <p:sldId id="262" r:id="rId11"/>
    <p:sldId id="260" r:id="rId12"/>
    <p:sldId id="263" r:id="rId13"/>
    <p:sldId id="266" r:id="rId14"/>
    <p:sldId id="264" r:id="rId15"/>
    <p:sldId id="270" r:id="rId16"/>
    <p:sldId id="271" r:id="rId17"/>
    <p:sldId id="272" r:id="rId18"/>
    <p:sldId id="269" r:id="rId19"/>
  </p:sldIdLst>
  <p:sldSz cx="12192000" cy="6858000"/>
  <p:notesSz cx="6797675" cy="9926638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48F8"/>
    <a:srgbClr val="C492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79"/>
  </p:normalViewPr>
  <p:slideViewPr>
    <p:cSldViewPr snapToGrid="0">
      <p:cViewPr>
        <p:scale>
          <a:sx n="97" d="100"/>
          <a:sy n="97" d="100"/>
        </p:scale>
        <p:origin x="9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1E09-77F3-5EC6-0CD7-1E26348B3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68529-A7B3-7A47-6824-F5D1D957C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CF96-8720-1300-2E56-F9A0F0152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1DF83-DCAC-8C38-F53E-DB960939D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5E7E-C7D4-7AD5-7292-2C907F96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0424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4DC9-28DD-A883-66D6-A37AF196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A9869-3415-6F2D-277D-5EC1EF60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B870-5E5E-AAA2-16D6-F1768A1B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F0C31-061E-0EFE-6808-7BBDB71E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C3C60-5495-A2E9-5093-D230C274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20962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C624-CA56-5CE0-28F4-4D50CACD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75FC7-8284-06BA-8BC0-776A8C9E0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DF11C-51BA-0F90-9AE5-68BA7C89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AA86B-8CE4-CF39-2431-3250D44D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14A7-3171-0B7F-5DF2-7D6ADA881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5174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5C67-E6E7-D3BC-A9C6-CD11A768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22A1-642A-E7D6-D145-87B01C93F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DBE69-8231-900F-729C-E98C2E7F6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DA860-2962-8C27-DA69-79B7C9B1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92DC8-4C1C-CEF5-B8F7-ED7861F0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1D61D-890C-3946-C4F1-B5DA30F8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12214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7900-74AB-4DC0-A693-BB5F51597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D2544-8B1D-0D11-B68D-6AAD0B55E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F8AA7-F35E-7F00-2BC7-EB4F79805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47ACE-ACBC-7289-6972-D22B0CFD6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EB263-3492-7155-DCC4-B17B364D8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1E449-6DAA-474C-D494-8E60D35A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6291D-14DE-D152-125F-5DE3F4AF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D9015-531D-4146-9744-06669FDF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16004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F0AB-7260-CE0C-5535-B41518BB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98A22-EA37-0950-EAF7-CA0073E8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C88AA-D74F-0CE5-618D-5F1D0CDC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EE20D-C3F4-32E9-1005-D2742064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6757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08BD6-0424-CB74-98D1-CA5CFC54A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ECA6B1-F32A-86E6-4D95-1F0C6C16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2CBA5-9B19-7E15-BEBC-1D666E27A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122801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33FA-A678-B9A5-3502-531DF432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EEE1-06E8-80D0-FFFC-5ADCA2B34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6881D-6352-6E12-07ED-ECC3384DC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30856-DCCC-41DC-0DAA-B43D9445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772BA-D3D7-3D60-993D-9224C2AD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8A139-7AE2-61B2-8446-50ED58BF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03120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61BE-EDCF-0BAD-3D5E-5DA23702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BA89CE-0B9A-FDCC-2C7C-82D136AF1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7BB3A-7DFE-BF95-0780-7EFFBEE79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D95ED-1F31-7A79-BB9E-F21D33C90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67247-DAE2-E59A-7EBC-D5C2CC12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0AA56-F761-8348-6D7F-FD3F27F4C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1880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FE5F7-DDBC-BF75-DC65-C40E7EF98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38B8C-4E40-5FB0-11BF-C04BCB746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B133-BE12-053D-81B7-1FB5096E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665D-8D9B-E784-048D-B13E82FD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EF89F-3B94-40BE-21E1-EFE1DD3B4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61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F68EC6-18C1-A287-19EC-FED7366C2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2A6FCB-B01A-241C-75D6-BE0E6CDE9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FAC7A-3646-7240-523A-310DE07FF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99639-BA6E-E01D-9C9D-C32F90B0C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21D2C-B978-5602-065A-DB86F886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2889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AD5F9-E2E3-D4C7-7997-8F4CAE30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71B35-B8EF-D580-E90D-F70B6B2CF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D56CB-8EA7-EC4F-D6C7-A2D3841CB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5F1F9-CE12-E745-BFE6-59133B006D16}" type="datetimeFigureOut">
              <a:rPr lang="en-GR" smtClean="0"/>
              <a:t>29/8/25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65C1D-5D2D-0AEB-B266-BC184B6C2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3051-49FE-9E3D-B893-E9E37D705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1C81F-B918-F940-85CD-5DD8467D8E3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7173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5D84A3-9DFB-9F24-B6A8-04063D981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45" y="489321"/>
            <a:ext cx="10517659" cy="58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6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12B3DD-3264-FD76-015A-2D81BB4BF631}"/>
                  </a:ext>
                </a:extLst>
              </p:cNvPr>
              <p:cNvSpPr txBox="1"/>
              <p:nvPr/>
            </p:nvSpPr>
            <p:spPr>
              <a:xfrm>
                <a:off x="127337" y="42536"/>
                <a:ext cx="2877120" cy="735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300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sz="13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3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12B3DD-3264-FD76-015A-2D81BB4BF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7" y="42536"/>
                <a:ext cx="2877120" cy="735971"/>
              </a:xfrm>
              <a:prstGeom prst="rect">
                <a:avLst/>
              </a:prstGeom>
              <a:blipFill>
                <a:blip r:embed="rId2"/>
                <a:stretch>
                  <a:fillRect l="-441" t="-1695" b="-5085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8C4761-ED73-C67B-ED7D-22ABB7707FA2}"/>
                  </a:ext>
                </a:extLst>
              </p:cNvPr>
              <p:cNvSpPr txBox="1"/>
              <p:nvPr/>
            </p:nvSpPr>
            <p:spPr>
              <a:xfrm>
                <a:off x="127337" y="2461404"/>
                <a:ext cx="5677714" cy="11170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300" b="1" dirty="0"/>
                  <a:t>Loss Derivative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300" b="1" dirty="0"/>
                  <a:t>Sigmoid + BCE</a:t>
                </a:r>
                <a:r>
                  <a:rPr lang="en-GB" sz="1300" dirty="0"/>
                  <a:t> (binary):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300" b="1" dirty="0" err="1"/>
                  <a:t>Softmax</a:t>
                </a:r>
                <a:r>
                  <a:rPr lang="en-GB" sz="1300" b="1" dirty="0"/>
                  <a:t> + cross-entropy</a:t>
                </a:r>
                <a:r>
                  <a:rPr lang="en-GB" sz="1300" dirty="0"/>
                  <a:t> (multiclass):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30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300" b="1" dirty="0"/>
                  <a:t>Sigmoid + MSE</a:t>
                </a:r>
                <a:r>
                  <a:rPr lang="en-GB" sz="1300" dirty="0"/>
                  <a:t>: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sz="13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ar-AE" sz="1300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sz="1300" b="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ar-AE" sz="13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b="0" i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 sz="13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sz="1300" dirty="0"/>
                  <a:t>(</a:t>
                </a:r>
                <a:endParaRPr lang="en-US" sz="13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1300" b="1" dirty="0"/>
                  <a:t>Tanh/</a:t>
                </a:r>
                <a:r>
                  <a:rPr lang="en-GB" sz="1300" b="1" dirty="0" err="1"/>
                  <a:t>ReLU</a:t>
                </a:r>
                <a:r>
                  <a:rPr lang="en-GB" sz="1300" b="1" dirty="0"/>
                  <a:t> + MSE/other</a:t>
                </a:r>
                <a:r>
                  <a:rPr lang="en-GB" sz="1300" dirty="0"/>
                  <a:t>: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300" i="1">
                        <a:latin typeface="Cambria Math" panose="02040503050406030204" pitchFamily="18" charset="0"/>
                      </a:rPr>
                      <m:t>𝑑𝐴</m:t>
                    </m:r>
                    <m:r>
                      <a:rPr lang="en-GB" sz="1300" i="0">
                        <a:latin typeface="Cambria Math" panose="02040503050406030204" pitchFamily="18" charset="0"/>
                      </a:rPr>
                      <m:t>⊙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sz="1300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ar-AE" sz="1300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8C4761-ED73-C67B-ED7D-22ABB7707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7" y="2461404"/>
                <a:ext cx="5677714" cy="1117037"/>
              </a:xfrm>
              <a:prstGeom prst="rect">
                <a:avLst/>
              </a:prstGeom>
              <a:blipFill>
                <a:blip r:embed="rId3"/>
                <a:stretch>
                  <a:fillRect l="-224" t="-1124" b="-4494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251EB1-4F51-110A-B703-2E98D6650A28}"/>
                  </a:ext>
                </a:extLst>
              </p:cNvPr>
              <p:cNvSpPr txBox="1"/>
              <p:nvPr/>
            </p:nvSpPr>
            <p:spPr>
              <a:xfrm>
                <a:off x="127337" y="778507"/>
                <a:ext cx="4206124" cy="1682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300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sz="1300" dirty="0"/>
                  <a:t>Loss derivative</a:t>
                </a:r>
                <a:r>
                  <a:rPr lang="en-GB" sz="1300" baseline="30000" dirty="0"/>
                  <a:t>1</a:t>
                </a:r>
                <a:r>
                  <a:rPr lang="en-GB" sz="1300" dirty="0"/>
                  <a:t>: </a:t>
                </a: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sz="1300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sz="13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3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3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3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3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sz="1300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sz="13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sz="1300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3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sz="13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300" baseline="30000" dirty="0"/>
                  <a:t>T</a:t>
                </a:r>
                <a:endParaRPr lang="ar-AE" sz="13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3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3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sz="1300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300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sz="13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300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3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3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3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sz="1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sz="13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3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300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sz="13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sz="1300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sz="13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3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3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300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3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251EB1-4F51-110A-B703-2E98D6650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7" y="778507"/>
                <a:ext cx="4206124" cy="1682897"/>
              </a:xfrm>
              <a:prstGeom prst="rect">
                <a:avLst/>
              </a:prstGeom>
              <a:blipFill>
                <a:blip r:embed="rId4"/>
                <a:stretch>
                  <a:fillRect l="-301" t="-752" b="-52632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8F3E0331-9F22-36EB-DCAD-F83EA2F49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233" y="0"/>
            <a:ext cx="6306430" cy="6487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52F64B-6826-F5C4-B2E7-F5D1F7832B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556" y="3704805"/>
            <a:ext cx="5349276" cy="26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8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3D31-B0E7-ADC1-9B16-7DA819E0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F7BB034-0893-3336-88E0-1833D9DC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563" y="2045751"/>
            <a:ext cx="2391508" cy="11910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71B57C-D776-BFF6-68D1-E93895F1C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" y="3409950"/>
            <a:ext cx="6090169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BE6DB4-03C4-F68A-F1A7-DCC2603DEF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9803" b="31593"/>
          <a:stretch>
            <a:fillRect/>
          </a:stretch>
        </p:blipFill>
        <p:spPr>
          <a:xfrm>
            <a:off x="6027712" y="145704"/>
            <a:ext cx="1839027" cy="1547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7AC2C1-CF99-D608-101A-440F1FE9C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A333AD3-03E2-0838-C5BE-B8D79995D1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8071" y="145704"/>
            <a:ext cx="3656799" cy="277220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8671474-CA3C-67D7-51BB-64EADDB4F0BB}"/>
              </a:ext>
            </a:extLst>
          </p:cNvPr>
          <p:cNvGrpSpPr/>
          <p:nvPr/>
        </p:nvGrpSpPr>
        <p:grpSpPr>
          <a:xfrm>
            <a:off x="0" y="238468"/>
            <a:ext cx="5646563" cy="2898861"/>
            <a:chOff x="239059" y="204694"/>
            <a:chExt cx="8483600" cy="43688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6F2DD2-8C0F-7441-92C8-3C5C9EFAD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03059" y="204694"/>
              <a:ext cx="4419600" cy="43688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63FBCD2-028E-31AE-BCFE-199815C16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9059" y="204694"/>
              <a:ext cx="4064000" cy="4368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874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837F-3890-7706-3ECE-E139E19A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CA7308-65FC-42C8-C758-C6F4577F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21" y="3258419"/>
            <a:ext cx="4673600" cy="323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AD3ACF-6B2F-358C-7AC3-B7A6C1DB4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389" y="3180820"/>
            <a:ext cx="6005017" cy="3393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3C2956-57D7-FE96-7867-E7A64D6349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68" t="16039"/>
          <a:stretch>
            <a:fillRect/>
          </a:stretch>
        </p:blipFill>
        <p:spPr>
          <a:xfrm>
            <a:off x="74172" y="283480"/>
            <a:ext cx="4991287" cy="2530439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329438-36D6-B8EE-FD45-708545059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421" y="283482"/>
            <a:ext cx="2126750" cy="253043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CF8B2-A513-5DCF-2415-9BC0CC44D4FA}"/>
                  </a:ext>
                </a:extLst>
              </p:cNvPr>
              <p:cNvSpPr txBox="1"/>
              <p:nvPr/>
            </p:nvSpPr>
            <p:spPr>
              <a:xfrm>
                <a:off x="7701906" y="185604"/>
                <a:ext cx="2877120" cy="785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CF8B2-A513-5DCF-2415-9BC0CC44D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906" y="185604"/>
                <a:ext cx="2877120" cy="785536"/>
              </a:xfrm>
              <a:prstGeom prst="rect">
                <a:avLst/>
              </a:prstGeom>
              <a:blipFill>
                <a:blip r:embed="rId6"/>
                <a:stretch>
                  <a:fillRect l="-881" t="-1587" b="-6349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B798F6-1DBB-15F1-27C3-032A7D36F371}"/>
                  </a:ext>
                </a:extLst>
              </p:cNvPr>
              <p:cNvSpPr txBox="1"/>
              <p:nvPr/>
            </p:nvSpPr>
            <p:spPr>
              <a:xfrm>
                <a:off x="7701906" y="1008809"/>
                <a:ext cx="4615064" cy="1805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Loss derivative</a:t>
                </a:r>
                <a:r>
                  <a:rPr lang="en-GB" sz="1400" baseline="30000" dirty="0"/>
                  <a:t>1</a:t>
                </a:r>
                <a:r>
                  <a:rPr lang="en-GB" sz="1400" dirty="0"/>
                  <a:t>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sz="1400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sz="14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sz="1400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400" baseline="30000" dirty="0"/>
                  <a:t>T</a:t>
                </a:r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sz="1400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sz="14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B798F6-1DBB-15F1-27C3-032A7D36F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906" y="1008809"/>
                <a:ext cx="4615064" cy="1805110"/>
              </a:xfrm>
              <a:prstGeom prst="rect">
                <a:avLst/>
              </a:prstGeom>
              <a:blipFill>
                <a:blip r:embed="rId7"/>
                <a:stretch>
                  <a:fillRect l="-548" t="-699" b="-53147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58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10FA70-4F5A-A340-9D49-399B4E9DC861}"/>
              </a:ext>
            </a:extLst>
          </p:cNvPr>
          <p:cNvSpPr txBox="1"/>
          <p:nvPr/>
        </p:nvSpPr>
        <p:spPr>
          <a:xfrm>
            <a:off x="1872343" y="1982450"/>
            <a:ext cx="84473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sz="8800" b="1" dirty="0">
                <a:solidFill>
                  <a:schemeClr val="bg1"/>
                </a:solidFill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89606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49BD-EF6C-3AB9-DCF4-548B0FFC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BA606C-D33A-43CC-6F24-4A009422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01"/>
          <a:stretch>
            <a:fillRect/>
          </a:stretch>
        </p:blipFill>
        <p:spPr>
          <a:xfrm>
            <a:off x="0" y="0"/>
            <a:ext cx="3536705" cy="183069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D3BE88-F9FB-80C2-D966-FB59B2D559F4}"/>
                  </a:ext>
                </a:extLst>
              </p:cNvPr>
              <p:cNvSpPr txBox="1"/>
              <p:nvPr/>
            </p:nvSpPr>
            <p:spPr>
              <a:xfrm>
                <a:off x="0" y="2036725"/>
                <a:ext cx="1987826" cy="1049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0488" indent="-90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0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000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sz="1000" dirty="0"/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0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1000" dirty="0"/>
              </a:p>
              <a:p>
                <a:pPr marL="90488" indent="-90488"/>
                <a:endParaRPr lang="en-US" sz="1000" dirty="0"/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Sigmoid : </a:t>
                </a:r>
                <a:r>
                  <a:rPr lang="el-GR" sz="1000" dirty="0"/>
                  <a:t>σ(</a:t>
                </a:r>
                <a:r>
                  <a:rPr lang="en-US" sz="1000" dirty="0"/>
                  <a:t>x)’=</a:t>
                </a:r>
                <a:r>
                  <a:rPr lang="el-GR" sz="1000" dirty="0"/>
                  <a:t>σ(</a:t>
                </a:r>
                <a:r>
                  <a:rPr lang="en-US" sz="1000" dirty="0"/>
                  <a:t>x)(1-</a:t>
                </a:r>
                <a:r>
                  <a:rPr lang="el-GR" sz="1000" dirty="0"/>
                  <a:t>σ(</a:t>
                </a:r>
                <a:r>
                  <a:rPr lang="en-US" sz="1000" dirty="0"/>
                  <a:t>x))</a:t>
                </a:r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:r>
                  <a:rPr lang="en-US" sz="1000" dirty="0"/>
                  <a:t>BCE : -y/a + (1-y)/(1-a)</a:t>
                </a:r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:r>
                  <a:rPr lang="en-GB" sz="1000" dirty="0"/>
                  <a:t>Sigmoid + BCE: </a:t>
                </a:r>
                <a14:m>
                  <m:oMath xmlns:m="http://schemas.openxmlformats.org/officeDocument/2006/math">
                    <m:r>
                      <a:rPr lang="en-GB" sz="1000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sz="1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000" dirty="0"/>
                  <a:t>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9D3BE88-F9FB-80C2-D966-FB59B2D55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36725"/>
                <a:ext cx="1987826" cy="1049198"/>
              </a:xfrm>
              <a:prstGeom prst="rect">
                <a:avLst/>
              </a:prstGeom>
              <a:blipFill>
                <a:blip r:embed="rId3"/>
                <a:stretch>
                  <a:fillRect b="-3614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34A1A4-04E3-B3E1-1908-8E0CBF62D8D5}"/>
                  </a:ext>
                </a:extLst>
              </p:cNvPr>
              <p:cNvSpPr txBox="1"/>
              <p:nvPr/>
            </p:nvSpPr>
            <p:spPr>
              <a:xfrm>
                <a:off x="1675588" y="1917457"/>
                <a:ext cx="2604863" cy="1312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0488" indent="-90488">
                  <a:buFont typeface="Arial" panose="020B0604020202020204" pitchFamily="34" charset="0"/>
                  <a:buChar char="•"/>
                </a:pPr>
                <a:r>
                  <a:rPr lang="en-GB" sz="1000" dirty="0"/>
                  <a:t>Loss derivative</a:t>
                </a:r>
                <a:r>
                  <a:rPr lang="en-GB" sz="1000" baseline="30000" dirty="0"/>
                  <a:t>1</a:t>
                </a:r>
                <a:r>
                  <a:rPr lang="en-GB" sz="1000" dirty="0"/>
                  <a:t>: </a:t>
                </a:r>
                <a14:m>
                  <m:oMath xmlns:m="http://schemas.openxmlformats.org/officeDocument/2006/math">
                    <m:r>
                      <a:rPr lang="en-GB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sz="1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b="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sz="1000" dirty="0"/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0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000" b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b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000" dirty="0"/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sz="10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sz="1000" i="1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b="0">
                                    <a:latin typeface="Cambria Math" panose="02040503050406030204" pitchFamily="18" charset="0"/>
                                  </a:rPr>
                                  <m:t>ℓ−</m:t>
                                </m:r>
                                <m:r>
                                  <a:rPr lang="ar-AE" sz="1000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sz="10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000" baseline="30000" dirty="0"/>
                  <a:t>T</a:t>
                </a:r>
                <a:endParaRPr lang="ar-AE" sz="1000" dirty="0"/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10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000" b="0" i="1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sz="1000" i="1" baseline="30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000" b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sz="1000" b="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10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>
                          <a:latin typeface="Cambria Math" panose="02040503050406030204" pitchFamily="18" charset="0"/>
                        </a:rPr>
                        <m:t>𝑎𝑥𝑖𝑠</m:t>
                      </m:r>
                      <m:r>
                        <a:rPr lang="en-US" sz="1000" b="0" i="1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sz="1000" b="0" i="1">
                          <a:latin typeface="Cambria Math" panose="02040503050406030204" pitchFamily="18" charset="0"/>
                        </a:rPr>
                        <m:t>𝑘𝑒𝑒𝑝𝑑𝑖𝑚𝑠</m:t>
                      </m:r>
                      <m:r>
                        <a:rPr lang="en-US" sz="1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0" i="1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sz="10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000" i="1" baseline="30000" dirty="0">
                  <a:latin typeface="Cambria Math" panose="02040503050406030204" pitchFamily="18" charset="0"/>
                </a:endParaRPr>
              </a:p>
              <a:p>
                <a:pPr marL="90488" indent="-90488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0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ℓ−</m:t>
                            </m:r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sz="1000" b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sz="1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b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b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000" b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sz="100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sz="1000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sz="1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0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000" b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sz="1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34A1A4-04E3-B3E1-1908-8E0CBF62D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588" y="1917457"/>
                <a:ext cx="2604863" cy="1312411"/>
              </a:xfrm>
              <a:prstGeom prst="rect">
                <a:avLst/>
              </a:prstGeom>
              <a:blipFill>
                <a:blip r:embed="rId4"/>
                <a:stretch>
                  <a:fillRect b="-49038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8792778-03BC-0258-CEE8-A6AF4C9CC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93" y="3205191"/>
            <a:ext cx="999142" cy="184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75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F21C-E16A-C0EF-CBC3-04F81D69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E7084D-7261-0A59-E687-DD7A109E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897" y="3737862"/>
            <a:ext cx="3240549" cy="161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280241-D0B4-B588-EB82-221A0650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803" b="31593"/>
          <a:stretch>
            <a:fillRect/>
          </a:stretch>
        </p:blipFill>
        <p:spPr>
          <a:xfrm>
            <a:off x="4201297" y="145704"/>
            <a:ext cx="2762149" cy="2323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D0247-85BA-9BAD-66F9-8B419AAA8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63446" y="145704"/>
            <a:ext cx="5228554" cy="46610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7C7E53-1850-9881-E422-15ECD2D07C67}"/>
                  </a:ext>
                </a:extLst>
              </p:cNvPr>
              <p:cNvSpPr txBox="1"/>
              <p:nvPr/>
            </p:nvSpPr>
            <p:spPr>
              <a:xfrm>
                <a:off x="127337" y="435266"/>
                <a:ext cx="2877120" cy="983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77C7E53-1850-9881-E422-15ECD2D07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7" y="435266"/>
                <a:ext cx="2877120" cy="983539"/>
              </a:xfrm>
              <a:prstGeom prst="rect">
                <a:avLst/>
              </a:prstGeom>
              <a:blipFill>
                <a:blip r:embed="rId6"/>
                <a:stretch>
                  <a:fillRect l="-2203" t="-2564" b="-7692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4043C3-276C-F0CA-ACB2-8E41D84927DB}"/>
                  </a:ext>
                </a:extLst>
              </p:cNvPr>
              <p:cNvSpPr txBox="1"/>
              <p:nvPr/>
            </p:nvSpPr>
            <p:spPr>
              <a:xfrm>
                <a:off x="127337" y="5042845"/>
                <a:ext cx="5677714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/>
                  <a:t>Loss Derivative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Sigmoid + BCE</a:t>
                </a:r>
                <a:r>
                  <a:rPr lang="en-GB" dirty="0"/>
                  <a:t> (binary):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 err="1"/>
                  <a:t>Softmax</a:t>
                </a:r>
                <a:r>
                  <a:rPr lang="en-GB" b="1" dirty="0"/>
                  <a:t> + cross-entropy</a:t>
                </a:r>
                <a:r>
                  <a:rPr lang="en-GB" dirty="0"/>
                  <a:t> (multiclass):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Sigmoid + MSE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dirty="0"/>
                  <a:t>(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Tanh/</a:t>
                </a:r>
                <a:r>
                  <a:rPr lang="en-GB" b="1" dirty="0" err="1"/>
                  <a:t>ReLU</a:t>
                </a:r>
                <a:r>
                  <a:rPr lang="en-GB" b="1" dirty="0"/>
                  <a:t> + MSE/other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𝑑𝐴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⊙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4043C3-276C-F0CA-ACB2-8E41D8492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7" y="5042845"/>
                <a:ext cx="5677714" cy="1511119"/>
              </a:xfrm>
              <a:prstGeom prst="rect">
                <a:avLst/>
              </a:prstGeom>
              <a:blipFill>
                <a:blip r:embed="rId7"/>
                <a:stretch>
                  <a:fillRect l="-1119" t="-833" b="-5833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85F9C1-D99B-C2A7-8DFD-9A6E33424C5D}"/>
                  </a:ext>
                </a:extLst>
              </p:cNvPr>
              <p:cNvSpPr txBox="1"/>
              <p:nvPr/>
            </p:nvSpPr>
            <p:spPr>
              <a:xfrm>
                <a:off x="127337" y="1752185"/>
                <a:ext cx="6096000" cy="2294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dirty="0"/>
                  <a:t>Loss derivative</a:t>
                </a:r>
                <a:r>
                  <a:rPr lang="en-GB" baseline="30000" dirty="0"/>
                  <a:t>1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baseline="30000" dirty="0"/>
                  <a:t>T</a:t>
                </a:r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85F9C1-D99B-C2A7-8DFD-9A6E33424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37" y="1752185"/>
                <a:ext cx="6096000" cy="2294539"/>
              </a:xfrm>
              <a:prstGeom prst="rect">
                <a:avLst/>
              </a:prstGeom>
              <a:blipFill>
                <a:blip r:embed="rId8"/>
                <a:stretch>
                  <a:fillRect l="-1040" t="-1099" b="-55495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1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7B1EF3-33A2-A291-94CC-F7195A68AC11}"/>
                  </a:ext>
                </a:extLst>
              </p:cNvPr>
              <p:cNvSpPr txBox="1"/>
              <p:nvPr/>
            </p:nvSpPr>
            <p:spPr>
              <a:xfrm>
                <a:off x="112823" y="369711"/>
                <a:ext cx="6475971" cy="37397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endParaRPr lang="en-GB" b="1" dirty="0"/>
              </a:p>
              <a:p>
                <a:pPr>
                  <a:buNone/>
                </a:pPr>
                <a:endParaRPr lang="en-GB" b="1" dirty="0"/>
              </a:p>
              <a:p>
                <a:pPr>
                  <a:buNone/>
                </a:pPr>
                <a:r>
                  <a:rPr lang="en-GB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dirty="0"/>
                  <a:t>Loss derivative</a:t>
                </a:r>
                <a:r>
                  <a:rPr lang="en-GB" baseline="30000" dirty="0"/>
                  <a:t>1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baseline="30000" dirty="0"/>
                  <a:t>T</a:t>
                </a:r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7B1EF3-33A2-A291-94CC-F7195A68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3" y="369711"/>
                <a:ext cx="6475971" cy="3739742"/>
              </a:xfrm>
              <a:prstGeom prst="rect">
                <a:avLst/>
              </a:prstGeom>
              <a:blipFill>
                <a:blip r:embed="rId2"/>
                <a:stretch>
                  <a:fillRect l="-847" t="-979" b="-34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DAB47C-66FB-A2B3-7405-6E619A230D1F}"/>
                  </a:ext>
                </a:extLst>
              </p:cNvPr>
              <p:cNvSpPr txBox="1"/>
              <p:nvPr/>
            </p:nvSpPr>
            <p:spPr>
              <a:xfrm>
                <a:off x="112823" y="4388509"/>
                <a:ext cx="6098058" cy="15111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aseline="30000" dirty="0"/>
                  <a:t>1</a:t>
                </a:r>
                <a:r>
                  <a:rPr lang="en-GB" dirty="0"/>
                  <a:t>Loss Derivative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Sigmoid + BCE</a:t>
                </a:r>
                <a:r>
                  <a:rPr lang="en-GB" dirty="0"/>
                  <a:t> (binary):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 err="1"/>
                  <a:t>Softmax</a:t>
                </a:r>
                <a:r>
                  <a:rPr lang="en-GB" b="1" dirty="0"/>
                  <a:t> + cross-entropy</a:t>
                </a:r>
                <a:r>
                  <a:rPr lang="en-GB" dirty="0"/>
                  <a:t> (multiclass):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Sigmoid + MSE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ar-AE" dirty="0"/>
                  <a:t>(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b="1" dirty="0"/>
                  <a:t>Tanh/</a:t>
                </a:r>
                <a:r>
                  <a:rPr lang="en-GB" b="1" dirty="0" err="1"/>
                  <a:t>ReLU</a:t>
                </a:r>
                <a:r>
                  <a:rPr lang="en-GB" b="1" dirty="0"/>
                  <a:t> + MSE/other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𝑑𝑍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𝑑𝐴</m:t>
                    </m:r>
                    <m:r>
                      <a:rPr lang="en-GB" i="0">
                        <a:latin typeface="Cambria Math" panose="02040503050406030204" pitchFamily="18" charset="0"/>
                      </a:rPr>
                      <m:t>⊙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DAB47C-66FB-A2B3-7405-6E619A230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23" y="4388509"/>
                <a:ext cx="6098058" cy="1511119"/>
              </a:xfrm>
              <a:prstGeom prst="rect">
                <a:avLst/>
              </a:prstGeom>
              <a:blipFill>
                <a:blip r:embed="rId3"/>
                <a:stretch>
                  <a:fillRect l="-700" t="-2419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04A0D0-A712-0DCA-2509-C7861F01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747" y="0"/>
            <a:ext cx="6306430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12717C-884E-EE73-AB5A-7E4BFE46E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405" y="127001"/>
            <a:ext cx="5677714" cy="31967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04FFFE-816B-9BE1-3258-B640EE8DA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56001"/>
            <a:ext cx="5683150" cy="3196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76143A-8102-D469-E0D8-98267BCC7CEC}"/>
              </a:ext>
            </a:extLst>
          </p:cNvPr>
          <p:cNvSpPr txBox="1"/>
          <p:nvPr/>
        </p:nvSpPr>
        <p:spPr>
          <a:xfrm>
            <a:off x="6101405" y="92712"/>
            <a:ext cx="1220527" cy="2769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R" dirty="0">
                <a:solidFill>
                  <a:schemeClr val="bg1"/>
                </a:solidFill>
              </a:rPr>
              <a:t>Activations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AB1A9-F270-30F7-6FA1-03DD0150168F}"/>
              </a:ext>
            </a:extLst>
          </p:cNvPr>
          <p:cNvSpPr txBox="1"/>
          <p:nvPr/>
        </p:nvSpPr>
        <p:spPr>
          <a:xfrm>
            <a:off x="6096000" y="3504182"/>
            <a:ext cx="1220527" cy="276999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R" dirty="0">
                <a:solidFill>
                  <a:schemeClr val="bg1"/>
                </a:solidFill>
              </a:rPr>
              <a:t>Loss Funcs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3A581F-B3F3-2071-46BA-F819816AB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9711"/>
            <a:ext cx="5844209" cy="601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05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4C16F3-2647-56DC-EF7A-8A194A807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101626" y="1505858"/>
            <a:ext cx="6717197" cy="3846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9B56B2-BDA3-12F6-422F-0AB6F8298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661" y="300170"/>
            <a:ext cx="6306430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60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8079AE-2C7B-9B3C-B8B2-E2E47E5FE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56380" cy="3236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B3400-631D-93CC-E753-464472D1D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563" y="2045751"/>
            <a:ext cx="2391508" cy="11910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CED741-E7B8-67BE-588E-36CEACE4C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" y="3409950"/>
            <a:ext cx="6090169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692F24-149B-43E4-5E37-988816039A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9803" b="31593"/>
          <a:stretch>
            <a:fillRect/>
          </a:stretch>
        </p:blipFill>
        <p:spPr>
          <a:xfrm>
            <a:off x="6027712" y="145704"/>
            <a:ext cx="1839027" cy="1547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E8756BB-6D7B-6695-8A61-1DE5816D6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B22A8AC-E79D-CC7A-05C3-9A69E6F062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38071" y="145704"/>
            <a:ext cx="3656799" cy="27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A37C99-5F08-5ED3-62EE-12E9C908B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35" b="73808"/>
          <a:stretch>
            <a:fillRect/>
          </a:stretch>
        </p:blipFill>
        <p:spPr>
          <a:xfrm>
            <a:off x="578709" y="1622915"/>
            <a:ext cx="5517292" cy="687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731913-BD0C-9369-978A-FD8A19F9D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57" t="27057" r="10360"/>
          <a:stretch>
            <a:fillRect/>
          </a:stretch>
        </p:blipFill>
        <p:spPr>
          <a:xfrm>
            <a:off x="6429046" y="1034377"/>
            <a:ext cx="2866769" cy="33982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520A33-0BBC-83C4-86A9-65C7F1BA00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864"/>
          <a:stretch>
            <a:fillRect/>
          </a:stretch>
        </p:blipFill>
        <p:spPr>
          <a:xfrm>
            <a:off x="578708" y="494271"/>
            <a:ext cx="6934329" cy="1080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192AFC-2E24-1DDE-48DF-9089AE455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08" y="4297335"/>
            <a:ext cx="6526427" cy="5124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A8C21-37D0-085D-EDB6-9A110EA913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37" t="22000" b="9882"/>
          <a:stretch>
            <a:fillRect/>
          </a:stretch>
        </p:blipFill>
        <p:spPr>
          <a:xfrm>
            <a:off x="330415" y="2359146"/>
            <a:ext cx="3006940" cy="1788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551070-A1E0-765C-5BFB-98567B959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480012"/>
            <a:ext cx="7772400" cy="389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87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2BF9-9D7B-F800-2075-78EB4377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F2DA2-EE17-BBA3-A2B2-1B32D3F7E2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8" t="16039"/>
          <a:stretch>
            <a:fillRect/>
          </a:stretch>
        </p:blipFill>
        <p:spPr>
          <a:xfrm>
            <a:off x="268928" y="264760"/>
            <a:ext cx="7764108" cy="39361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9C039C-C443-0DFC-B31E-F61465C0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395" y="264759"/>
            <a:ext cx="3308229" cy="39361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279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D76A2-036B-2BFC-F689-07D9C2FE1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8" t="16039"/>
          <a:stretch>
            <a:fillRect/>
          </a:stretch>
        </p:blipFill>
        <p:spPr>
          <a:xfrm>
            <a:off x="6166147" y="357526"/>
            <a:ext cx="4162700" cy="2110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449567-6F62-4FEA-78BD-AEBA65B45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05" y="357526"/>
            <a:ext cx="1773696" cy="2110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1E2483-C3A3-52DF-214D-8D7EF9934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2" y="97748"/>
            <a:ext cx="5915026" cy="292863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12131FF-0FA5-0A84-4BA6-B1405C4EE0A1}"/>
              </a:ext>
            </a:extLst>
          </p:cNvPr>
          <p:cNvSpPr/>
          <p:nvPr/>
        </p:nvSpPr>
        <p:spPr>
          <a:xfrm>
            <a:off x="489200" y="3549897"/>
            <a:ext cx="1895684" cy="475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&gt;l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inear_forward(A,W,b)</a:t>
            </a:r>
          </a:p>
          <a:p>
            <a:r>
              <a:rPr lang="en-GB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out:Z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, cache [A,W,b]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371229-7D14-1E25-5AD9-AD0F3480BB91}"/>
              </a:ext>
            </a:extLst>
          </p:cNvPr>
          <p:cNvSpPr/>
          <p:nvPr/>
        </p:nvSpPr>
        <p:spPr>
          <a:xfrm>
            <a:off x="93969" y="4229689"/>
            <a:ext cx="2686147" cy="9921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&gt;l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inear_activation_</a:t>
            </a:r>
            <a:b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forward(A_prev,W,b,activation)</a:t>
            </a:r>
          </a:p>
          <a:p>
            <a:r>
              <a:rPr lang="en-GB" sz="1050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lc:lf(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) -&gt; activation_func(z)</a:t>
            </a:r>
          </a:p>
          <a:p>
            <a:r>
              <a:rPr lang="en-GB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out:A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,cache[lin_cache,act_cache]</a:t>
            </a:r>
          </a:p>
          <a:p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*activation_cache = A,W,B</a:t>
            </a:r>
          </a:p>
          <a:p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*activation_cache = Z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E909C3-B8AC-7594-5239-926974FBCD64}"/>
              </a:ext>
            </a:extLst>
          </p:cNvPr>
          <p:cNvSpPr/>
          <p:nvPr/>
        </p:nvSpPr>
        <p:spPr>
          <a:xfrm>
            <a:off x="430441" y="5595083"/>
            <a:ext cx="2013202" cy="453139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Final Network Layer calls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laf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(…) -&gt; AL, cache</a:t>
            </a:r>
            <a:endParaRPr lang="en-GR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0B7F0B72-5623-FCD3-7DE8-96FE79A6FEE3}"/>
              </a:ext>
            </a:extLst>
          </p:cNvPr>
          <p:cNvCxnSpPr>
            <a:cxnSpLocks/>
            <a:stCxn id="9" idx="2"/>
            <a:endCxn id="13" idx="1"/>
          </p:cNvCxnSpPr>
          <p:nvPr/>
        </p:nvCxnSpPr>
        <p:spPr>
          <a:xfrm rot="5400000">
            <a:off x="633827" y="5018436"/>
            <a:ext cx="599831" cy="1006602"/>
          </a:xfrm>
          <a:prstGeom prst="curvedConnector4">
            <a:avLst>
              <a:gd name="adj1" fmla="val 31114"/>
              <a:gd name="adj2" fmla="val 12271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700F27B-C361-3877-E3F7-3BB2ACD6B9DA}"/>
              </a:ext>
            </a:extLst>
          </p:cNvPr>
          <p:cNvSpPr/>
          <p:nvPr/>
        </p:nvSpPr>
        <p:spPr>
          <a:xfrm>
            <a:off x="3138789" y="6087151"/>
            <a:ext cx="2486865" cy="632992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linear_backward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dZ,cache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out:dA_prev,dW,db</a:t>
            </a:r>
            <a:endParaRPr lang="en-US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*assumes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dZ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is known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dA_prev,dW,db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all using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dZ</a:t>
            </a:r>
            <a:endParaRPr lang="en-GR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BBB9C53-EF51-7C0B-4E80-06749571EC6B}"/>
              </a:ext>
            </a:extLst>
          </p:cNvPr>
          <p:cNvSpPr/>
          <p:nvPr/>
        </p:nvSpPr>
        <p:spPr>
          <a:xfrm>
            <a:off x="733823" y="6346882"/>
            <a:ext cx="1406439" cy="373261"/>
          </a:xfrm>
          <a:prstGeom prst="roundRect">
            <a:avLst/>
          </a:prstGeom>
          <a:solidFill>
            <a:srgbClr val="C492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loss_func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(AL,Y)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out:cost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~scalar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99A08BE-D67D-E277-00EC-2CEEAB1245E8}"/>
              </a:ext>
            </a:extLst>
          </p:cNvPr>
          <p:cNvSpPr/>
          <p:nvPr/>
        </p:nvSpPr>
        <p:spPr>
          <a:xfrm>
            <a:off x="3024044" y="4506287"/>
            <a:ext cx="2716355" cy="1192907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linear_backward_activation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dA,cache,activation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clc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: cache=</a:t>
            </a:r>
            <a:r>
              <a:rPr lang="en-GR" sz="1050" dirty="0">
                <a:latin typeface="Consolas" panose="020B0609020204030204" pitchFamily="49" charset="0"/>
                <a:cs typeface="Consolas" panose="020B0609020204030204" pitchFamily="49" charset="0"/>
              </a:rPr>
              <a:t>lin_cache,act_cache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-&gt;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activation_prime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dA,act_cache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dz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-&gt;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lb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dz,linear_cache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out: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da_prev,dW,db</a:t>
            </a:r>
            <a:endParaRPr lang="en-US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caclulates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dZ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is known</a:t>
            </a:r>
            <a:endParaRPr lang="en-GR" sz="105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8A24D7-E641-A00D-5DA8-20D73BF3F78B}"/>
              </a:ext>
            </a:extLst>
          </p:cNvPr>
          <p:cNvCxnSpPr>
            <a:cxnSpLocks/>
          </p:cNvCxnSpPr>
          <p:nvPr/>
        </p:nvCxnSpPr>
        <p:spPr>
          <a:xfrm>
            <a:off x="1395731" y="4025632"/>
            <a:ext cx="1" cy="2040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F09215E-B087-16B7-1A9A-D10C5A2AC42D}"/>
              </a:ext>
            </a:extLst>
          </p:cNvPr>
          <p:cNvCxnSpPr>
            <a:cxnSpLocks/>
            <a:stCxn id="24" idx="0"/>
            <a:endCxn id="32" idx="2"/>
          </p:cNvCxnSpPr>
          <p:nvPr/>
        </p:nvCxnSpPr>
        <p:spPr>
          <a:xfrm flipV="1">
            <a:off x="4382222" y="5699194"/>
            <a:ext cx="0" cy="3879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112A80C1-0404-5479-371B-7A20BA1CF1CD}"/>
              </a:ext>
            </a:extLst>
          </p:cNvPr>
          <p:cNvCxnSpPr>
            <a:cxnSpLocks/>
            <a:stCxn id="32" idx="0"/>
            <a:endCxn id="55" idx="3"/>
          </p:cNvCxnSpPr>
          <p:nvPr/>
        </p:nvCxnSpPr>
        <p:spPr>
          <a:xfrm rot="5400000" flipH="1" flipV="1">
            <a:off x="4609051" y="3568068"/>
            <a:ext cx="711391" cy="1165049"/>
          </a:xfrm>
          <a:prstGeom prst="curvedConnector4">
            <a:avLst>
              <a:gd name="adj1" fmla="val 32780"/>
              <a:gd name="adj2" fmla="val 119621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4EE2D08-BA1F-977A-3B0E-E9F8EC550627}"/>
              </a:ext>
            </a:extLst>
          </p:cNvPr>
          <p:cNvSpPr/>
          <p:nvPr/>
        </p:nvSpPr>
        <p:spPr>
          <a:xfrm>
            <a:off x="3217171" y="3549897"/>
            <a:ext cx="2330100" cy="489997"/>
          </a:xfrm>
          <a:prstGeom prst="roundRect">
            <a:avLst/>
          </a:prstGeom>
          <a:solidFill>
            <a:srgbClr val="C492B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dAL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loss_func_prime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(AL,Y)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dAL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initiates backprop</a:t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lba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dAL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050" dirty="0" err="1">
                <a:latin typeface="Consolas" panose="020B0609020204030204" pitchFamily="49" charset="0"/>
                <a:cs typeface="Consolas" panose="020B0609020204030204" pitchFamily="49" charset="0"/>
              </a:rPr>
              <a:t>cache,activation</a:t>
            </a:r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80D1BD9-63C3-C7F6-2725-E74F933D8075}"/>
              </a:ext>
            </a:extLst>
          </p:cNvPr>
          <p:cNvCxnSpPr>
            <a:cxnSpLocks/>
          </p:cNvCxnSpPr>
          <p:nvPr/>
        </p:nvCxnSpPr>
        <p:spPr>
          <a:xfrm>
            <a:off x="1437042" y="6048222"/>
            <a:ext cx="1" cy="2986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urved Connector 84">
            <a:extLst>
              <a:ext uri="{FF2B5EF4-FFF2-40B4-BE49-F238E27FC236}">
                <a16:creationId xmlns:a16="http://schemas.microsoft.com/office/drawing/2014/main" id="{EA70BB2A-6F1E-A181-71DB-943DA6B05099}"/>
              </a:ext>
            </a:extLst>
          </p:cNvPr>
          <p:cNvCxnSpPr>
            <a:cxnSpLocks/>
            <a:stCxn id="13" idx="3"/>
            <a:endCxn id="55" idx="1"/>
          </p:cNvCxnSpPr>
          <p:nvPr/>
        </p:nvCxnSpPr>
        <p:spPr>
          <a:xfrm flipV="1">
            <a:off x="2443643" y="3794896"/>
            <a:ext cx="773528" cy="2026757"/>
          </a:xfrm>
          <a:prstGeom prst="curvedConnector3">
            <a:avLst>
              <a:gd name="adj1" fmla="val 59382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E4560D4-B8F9-9006-CCA9-AE2C9774F72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3175">
            <a:gradFill>
              <a:gsLst>
                <a:gs pos="0">
                  <a:schemeClr val="bg2">
                    <a:lumMod val="90000"/>
                  </a:schemeClr>
                </a:gs>
                <a:gs pos="32000">
                  <a:schemeClr val="tx1">
                    <a:lumMod val="50000"/>
                    <a:lumOff val="50000"/>
                  </a:schemeClr>
                </a:gs>
                <a:gs pos="68000">
                  <a:schemeClr val="tx1">
                    <a:lumMod val="50000"/>
                    <a:lumOff val="50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9966359-4831-8366-A669-2B8DD1EEAD5A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3175">
            <a:gradFill>
              <a:gsLst>
                <a:gs pos="0">
                  <a:schemeClr val="bg2">
                    <a:lumMod val="90000"/>
                  </a:schemeClr>
                </a:gs>
                <a:gs pos="32000">
                  <a:schemeClr val="tx1">
                    <a:lumMod val="50000"/>
                    <a:lumOff val="50000"/>
                  </a:schemeClr>
                </a:gs>
                <a:gs pos="68000">
                  <a:schemeClr val="tx1">
                    <a:lumMod val="50000"/>
                    <a:lumOff val="50000"/>
                  </a:schemeClr>
                </a:gs>
                <a:gs pos="100000">
                  <a:schemeClr val="bg2"/>
                </a:gs>
              </a:gsLst>
              <a:lin ang="5400000" scaled="1"/>
            </a:gra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961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F191F-4A75-F011-B323-D84135C5E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714686-9781-52D4-968E-B6130CA43430}"/>
                  </a:ext>
                </a:extLst>
              </p:cNvPr>
              <p:cNvSpPr/>
              <p:nvPr/>
            </p:nvSpPr>
            <p:spPr>
              <a:xfrm>
                <a:off x="2003178" y="1592709"/>
                <a:ext cx="2997639" cy="10204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R" dirty="0">
                    <a:solidFill>
                      <a:schemeClr val="tx1"/>
                    </a:solidFill>
                    <a:cs typeface="Al Bayan Plain" pitchFamily="2" charset="-78"/>
                  </a:rPr>
                  <a:t>W, b</a:t>
                </a:r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ℓ−1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714686-9781-52D4-968E-B6130CA43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178" y="1592709"/>
                <a:ext cx="2997639" cy="1020421"/>
              </a:xfrm>
              <a:prstGeom prst="rect">
                <a:avLst/>
              </a:prstGeom>
              <a:blipFill>
                <a:blip r:embed="rId2"/>
                <a:stretch>
                  <a:fillRect b="-4819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5A266D4-7C0E-866E-D64E-43496BAA7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01" y="3864214"/>
            <a:ext cx="2390999" cy="284484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313878B6-C646-50F6-0880-066DFF950B68}"/>
              </a:ext>
            </a:extLst>
          </p:cNvPr>
          <p:cNvCxnSpPr>
            <a:cxnSpLocks/>
            <a:stCxn id="56" idx="3"/>
            <a:endCxn id="67" idx="0"/>
          </p:cNvCxnSpPr>
          <p:nvPr/>
        </p:nvCxnSpPr>
        <p:spPr>
          <a:xfrm flipH="1">
            <a:off x="6067845" y="2123622"/>
            <a:ext cx="193795" cy="2307940"/>
          </a:xfrm>
          <a:prstGeom prst="curvedConnector4">
            <a:avLst>
              <a:gd name="adj1" fmla="val -247485"/>
              <a:gd name="adj2" fmla="val 65654"/>
            </a:avLst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39FD37-2406-2D30-B8A8-1A3654752ACF}"/>
              </a:ext>
            </a:extLst>
          </p:cNvPr>
          <p:cNvCxnSpPr>
            <a:cxnSpLocks/>
          </p:cNvCxnSpPr>
          <p:nvPr/>
        </p:nvCxnSpPr>
        <p:spPr>
          <a:xfrm>
            <a:off x="1435414" y="2102919"/>
            <a:ext cx="54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4437B77-692D-6416-5B30-52BA845ADAD6}"/>
              </a:ext>
            </a:extLst>
          </p:cNvPr>
          <p:cNvSpPr txBox="1"/>
          <p:nvPr/>
        </p:nvSpPr>
        <p:spPr>
          <a:xfrm>
            <a:off x="197821" y="1800457"/>
            <a:ext cx="1460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dirty="0">
                <a:cs typeface="Al Bayan Plain" pitchFamily="2" charset="-78"/>
              </a:rPr>
              <a:t>X, A</a:t>
            </a:r>
            <a:r>
              <a:rPr lang="en-GR" baseline="30000" dirty="0">
                <a:cs typeface="Al Bayan Plain" pitchFamily="2" charset="-78"/>
              </a:rPr>
              <a:t>[</a:t>
            </a:r>
            <a:r>
              <a:rPr lang="en-GR" baseline="30000" dirty="0">
                <a:cs typeface="Al Bayan Plain" pitchFamily="2" charset="-78"/>
              </a:rPr>
              <a:t>0] </a:t>
            </a:r>
            <a:r>
              <a:rPr lang="en-GR" dirty="0">
                <a:cs typeface="Al Bayan Plain" pitchFamily="2" charset="-78"/>
              </a:rPr>
              <a:t>, </a:t>
            </a:r>
            <a:br>
              <a:rPr lang="en-GR" dirty="0">
                <a:cs typeface="Al Bayan Plain" pitchFamily="2" charset="-78"/>
              </a:rPr>
            </a:br>
            <a:r>
              <a:rPr lang="en-GR" dirty="0">
                <a:cs typeface="Al Bayan Plain" pitchFamily="2" charset="-78"/>
              </a:rPr>
              <a:t>A</a:t>
            </a:r>
            <a:r>
              <a:rPr lang="en-GR" baseline="30000" dirty="0">
                <a:cs typeface="Al Bayan Plain" pitchFamily="2" charset="-78"/>
              </a:rPr>
              <a:t>[l-1] </a:t>
            </a:r>
            <a:r>
              <a:rPr lang="en-GR" dirty="0">
                <a:cs typeface="Al Bayan Plain" pitchFamily="2" charset="-78"/>
              </a:rPr>
              <a:t>,A_prev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AF3BFF-7E24-0F7C-88F7-E0075E6AC3A9}"/>
                  </a:ext>
                </a:extLst>
              </p:cNvPr>
              <p:cNvSpPr txBox="1"/>
              <p:nvPr/>
            </p:nvSpPr>
            <p:spPr>
              <a:xfrm>
                <a:off x="8731994" y="148941"/>
                <a:ext cx="2877120" cy="983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BAF3BFF-7E24-0F7C-88F7-E0075E6AC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994" y="148941"/>
                <a:ext cx="2877120" cy="983539"/>
              </a:xfrm>
              <a:prstGeom prst="rect">
                <a:avLst/>
              </a:prstGeom>
              <a:blipFill>
                <a:blip r:embed="rId4"/>
                <a:stretch>
                  <a:fillRect l="-1762" t="-2532" b="-6329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57929D7-E019-B164-8221-66773153D7E6}"/>
                  </a:ext>
                </a:extLst>
              </p:cNvPr>
              <p:cNvSpPr txBox="1"/>
              <p:nvPr/>
            </p:nvSpPr>
            <p:spPr>
              <a:xfrm>
                <a:off x="8731994" y="1465860"/>
                <a:ext cx="6096000" cy="2294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dirty="0"/>
                  <a:t>Loss derivative</a:t>
                </a:r>
                <a:r>
                  <a:rPr lang="en-GB" baseline="30000" dirty="0"/>
                  <a:t>1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baseline="30000" dirty="0"/>
                  <a:t>T</a:t>
                </a:r>
                <a:endParaRPr lang="ar-AE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57929D7-E019-B164-8221-66773153D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1994" y="1465860"/>
                <a:ext cx="6096000" cy="2294539"/>
              </a:xfrm>
              <a:prstGeom prst="rect">
                <a:avLst/>
              </a:prstGeom>
              <a:blipFill>
                <a:blip r:embed="rId5"/>
                <a:stretch>
                  <a:fillRect l="-832" t="-1099" b="-54945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89429B0-9CF1-54B8-7B85-8BC875FD218D}"/>
              </a:ext>
            </a:extLst>
          </p:cNvPr>
          <p:cNvCxnSpPr>
            <a:cxnSpLocks/>
          </p:cNvCxnSpPr>
          <p:nvPr/>
        </p:nvCxnSpPr>
        <p:spPr>
          <a:xfrm>
            <a:off x="5009710" y="2102919"/>
            <a:ext cx="54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265099D-B86A-13C6-A8C1-232C0BF648B1}"/>
              </a:ext>
            </a:extLst>
          </p:cNvPr>
          <p:cNvSpPr txBox="1"/>
          <p:nvPr/>
        </p:nvSpPr>
        <p:spPr>
          <a:xfrm>
            <a:off x="5416800" y="1938956"/>
            <a:ext cx="84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dirty="0">
                <a:cs typeface="Al Bayan Plain" pitchFamily="2" charset="-78"/>
              </a:rPr>
              <a:t>Y, A</a:t>
            </a:r>
            <a:r>
              <a:rPr lang="en-GR" baseline="30000" dirty="0">
                <a:cs typeface="Al Bayan Plain" pitchFamily="2" charset="-78"/>
              </a:rPr>
              <a:t>[L] </a:t>
            </a:r>
            <a:endParaRPr lang="en-GR" dirty="0">
              <a:cs typeface="Al Bayan Plain" pitchFamily="2" charset="-7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635E583-33DA-EAF4-2F8D-30BFD81F610C}"/>
                  </a:ext>
                </a:extLst>
              </p:cNvPr>
              <p:cNvSpPr/>
              <p:nvPr/>
            </p:nvSpPr>
            <p:spPr>
              <a:xfrm>
                <a:off x="2003178" y="4244518"/>
                <a:ext cx="2997639" cy="102042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</m:d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br>
                  <a:rPr lang="en-US" dirty="0"/>
                </a:br>
                <a:br>
                  <a:rPr lang="en-US" sz="600" dirty="0"/>
                </a:b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pPr algn="ctr"/>
                <a:endParaRPr lang="ar-AE" dirty="0"/>
              </a:p>
            </p:txBody>
          </p:sp>
        </mc:Choice>
        <mc:Fallback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635E583-33DA-EAF4-2F8D-30BFD81F61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178" y="4244518"/>
                <a:ext cx="2997639" cy="1020421"/>
              </a:xfrm>
              <a:prstGeom prst="rect">
                <a:avLst/>
              </a:prstGeom>
              <a:blipFill>
                <a:blip r:embed="rId6"/>
                <a:stretch>
                  <a:fillRect b="-10843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525DD5E-D2B8-1655-2AE9-4AB3D52024A2}"/>
              </a:ext>
            </a:extLst>
          </p:cNvPr>
          <p:cNvCxnSpPr>
            <a:cxnSpLocks/>
          </p:cNvCxnSpPr>
          <p:nvPr/>
        </p:nvCxnSpPr>
        <p:spPr>
          <a:xfrm flipH="1">
            <a:off x="3501997" y="2613130"/>
            <a:ext cx="27764" cy="4990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24D18E6-DA4F-8194-1DE5-705367685818}"/>
              </a:ext>
            </a:extLst>
          </p:cNvPr>
          <p:cNvSpPr txBox="1"/>
          <p:nvPr/>
        </p:nvSpPr>
        <p:spPr>
          <a:xfrm>
            <a:off x="2764997" y="3099502"/>
            <a:ext cx="147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cs typeface="Al Bayan Plain" pitchFamily="2" charset="-78"/>
              </a:rPr>
              <a:t>c</a:t>
            </a:r>
            <a:r>
              <a:rPr lang="en-GR" dirty="0">
                <a:cs typeface="Al Bayan Plain" pitchFamily="2" charset="-78"/>
              </a:rPr>
              <a:t>ache</a:t>
            </a:r>
            <a:br>
              <a:rPr lang="en-GR" dirty="0">
                <a:cs typeface="Al Bayan Plain" pitchFamily="2" charset="-78"/>
              </a:rPr>
            </a:br>
            <a:r>
              <a:rPr lang="en-GR" dirty="0">
                <a:cs typeface="Al Bayan Plain" pitchFamily="2" charset="-78"/>
              </a:rPr>
              <a:t>Z,A_prev,W,b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4402084-F89C-6EE0-3D7B-3AE5A3E0E058}"/>
              </a:ext>
            </a:extLst>
          </p:cNvPr>
          <p:cNvCxnSpPr>
            <a:cxnSpLocks/>
          </p:cNvCxnSpPr>
          <p:nvPr/>
        </p:nvCxnSpPr>
        <p:spPr>
          <a:xfrm>
            <a:off x="3501997" y="3656188"/>
            <a:ext cx="0" cy="4990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794A474-EC3C-F2DA-E173-C70C77B6D7B8}"/>
              </a:ext>
            </a:extLst>
          </p:cNvPr>
          <p:cNvSpPr txBox="1"/>
          <p:nvPr/>
        </p:nvSpPr>
        <p:spPr>
          <a:xfrm>
            <a:off x="5352632" y="4431562"/>
            <a:ext cx="1430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dirty="0">
                <a:cs typeface="Al Bayan Plain" pitchFamily="2" charset="-78"/>
              </a:rPr>
              <a:t>dAL= ∂L/∂Y</a:t>
            </a:r>
            <a:br>
              <a:rPr lang="en-GR" dirty="0">
                <a:cs typeface="Al Bayan Plain" pitchFamily="2" charset="-78"/>
              </a:rPr>
            </a:br>
            <a:r>
              <a:rPr lang="en-GR" dirty="0">
                <a:cs typeface="Al Bayan Plain" pitchFamily="2" charset="-78"/>
              </a:rPr>
              <a:t>dA</a:t>
            </a:r>
            <a:r>
              <a:rPr lang="en-GR" baseline="30000" dirty="0">
                <a:cs typeface="Al Bayan Plain" pitchFamily="2" charset="-78"/>
              </a:rPr>
              <a:t>[L]</a:t>
            </a:r>
            <a:r>
              <a:rPr lang="en-GR" dirty="0">
                <a:cs typeface="Al Bayan Plain" pitchFamily="2" charset="-78"/>
              </a:rPr>
              <a:t>,dA</a:t>
            </a:r>
            <a:r>
              <a:rPr lang="en-GR" baseline="30000" dirty="0">
                <a:cs typeface="Al Bayan Plain" pitchFamily="2" charset="-78"/>
              </a:rPr>
              <a:t>[l]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BE3068F-C396-C83B-EF13-86B142CCC9F5}"/>
              </a:ext>
            </a:extLst>
          </p:cNvPr>
          <p:cNvCxnSpPr>
            <a:cxnSpLocks/>
          </p:cNvCxnSpPr>
          <p:nvPr/>
        </p:nvCxnSpPr>
        <p:spPr>
          <a:xfrm flipH="1">
            <a:off x="5009710" y="4775431"/>
            <a:ext cx="54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4CC29F0-053A-930E-F210-110FBDFCD91E}"/>
              </a:ext>
            </a:extLst>
          </p:cNvPr>
          <p:cNvCxnSpPr>
            <a:cxnSpLocks/>
          </p:cNvCxnSpPr>
          <p:nvPr/>
        </p:nvCxnSpPr>
        <p:spPr>
          <a:xfrm>
            <a:off x="2003178" y="1922914"/>
            <a:ext cx="2997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3A8D940-9973-AD28-F2D1-7864232573CA}"/>
              </a:ext>
            </a:extLst>
          </p:cNvPr>
          <p:cNvCxnSpPr>
            <a:cxnSpLocks/>
          </p:cNvCxnSpPr>
          <p:nvPr/>
        </p:nvCxnSpPr>
        <p:spPr>
          <a:xfrm>
            <a:off x="2003178" y="4647168"/>
            <a:ext cx="2997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C1BDE1D-B34C-C591-A9DD-56008530B787}"/>
              </a:ext>
            </a:extLst>
          </p:cNvPr>
          <p:cNvCxnSpPr>
            <a:cxnSpLocks/>
          </p:cNvCxnSpPr>
          <p:nvPr/>
        </p:nvCxnSpPr>
        <p:spPr>
          <a:xfrm flipH="1">
            <a:off x="1435414" y="4771728"/>
            <a:ext cx="5400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E2D5007-F7F3-A4C5-7A8B-D9B35BB1E8AF}"/>
              </a:ext>
            </a:extLst>
          </p:cNvPr>
          <p:cNvSpPr txBox="1"/>
          <p:nvPr/>
        </p:nvSpPr>
        <p:spPr>
          <a:xfrm>
            <a:off x="197821" y="4598400"/>
            <a:ext cx="143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dirty="0">
                <a:cs typeface="Al Bayan Plain" pitchFamily="2" charset="-78"/>
              </a:rPr>
              <a:t>dA</a:t>
            </a:r>
            <a:r>
              <a:rPr lang="en-GR" baseline="30000" dirty="0">
                <a:cs typeface="Al Bayan Plain" pitchFamily="2" charset="-78"/>
              </a:rPr>
              <a:t>[L-1]</a:t>
            </a:r>
            <a:r>
              <a:rPr lang="en-GR" dirty="0">
                <a:cs typeface="Al Bayan Plain" pitchFamily="2" charset="-78"/>
              </a:rPr>
              <a:t>,dA</a:t>
            </a:r>
            <a:r>
              <a:rPr lang="en-GR" baseline="30000" dirty="0">
                <a:cs typeface="Al Bayan Plain" pitchFamily="2" charset="-78"/>
              </a:rPr>
              <a:t>[l-1]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760BAB6-441B-2E84-CF12-5022C0F32843}"/>
              </a:ext>
            </a:extLst>
          </p:cNvPr>
          <p:cNvCxnSpPr>
            <a:cxnSpLocks/>
          </p:cNvCxnSpPr>
          <p:nvPr/>
        </p:nvCxnSpPr>
        <p:spPr>
          <a:xfrm>
            <a:off x="3501997" y="5264939"/>
            <a:ext cx="0" cy="4990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B51BF2C2-6835-36ED-D5E0-7B543C2B4618}"/>
              </a:ext>
            </a:extLst>
          </p:cNvPr>
          <p:cNvSpPr txBox="1"/>
          <p:nvPr/>
        </p:nvSpPr>
        <p:spPr>
          <a:xfrm>
            <a:off x="2786785" y="5727766"/>
            <a:ext cx="143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R" dirty="0">
                <a:cs typeface="Al Bayan Plain" pitchFamily="2" charset="-78"/>
              </a:rPr>
              <a:t>dW,db</a:t>
            </a:r>
            <a:endParaRPr lang="en-GR" baseline="30000" dirty="0">
              <a:cs typeface="Al Bayan Plain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9481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94AAF9-D915-48B8-896A-34C264D6F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24" y="644338"/>
            <a:ext cx="4673600" cy="323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684F40-8396-ED52-E485-D651B6456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6192" y="368490"/>
            <a:ext cx="6005017" cy="3393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628BCE-0526-92E0-56F9-D29BE6D12E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68" t="16039"/>
          <a:stretch>
            <a:fillRect/>
          </a:stretch>
        </p:blipFill>
        <p:spPr>
          <a:xfrm>
            <a:off x="112975" y="4232026"/>
            <a:ext cx="4991287" cy="2530439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F49A8A-E30F-9180-EFC8-5F4F23662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224" y="4232028"/>
            <a:ext cx="2126750" cy="253043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9A09C2-9988-E5C6-6AB8-C335D4CC80DC}"/>
                  </a:ext>
                </a:extLst>
              </p:cNvPr>
              <p:cNvSpPr txBox="1"/>
              <p:nvPr/>
            </p:nvSpPr>
            <p:spPr>
              <a:xfrm>
                <a:off x="7740709" y="4134150"/>
                <a:ext cx="2877120" cy="785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9A09C2-9988-E5C6-6AB8-C335D4CC8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709" y="4134150"/>
                <a:ext cx="2877120" cy="785536"/>
              </a:xfrm>
              <a:prstGeom prst="rect">
                <a:avLst/>
              </a:prstGeom>
              <a:blipFill>
                <a:blip r:embed="rId6"/>
                <a:stretch>
                  <a:fillRect l="-439" t="-1587" b="-4762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673F28-432D-725E-E525-8DFF52D037E6}"/>
                  </a:ext>
                </a:extLst>
              </p:cNvPr>
              <p:cNvSpPr txBox="1"/>
              <p:nvPr/>
            </p:nvSpPr>
            <p:spPr>
              <a:xfrm>
                <a:off x="7740709" y="4957355"/>
                <a:ext cx="4615064" cy="1805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Loss derivative</a:t>
                </a:r>
                <a:r>
                  <a:rPr lang="en-GB" sz="1400" baseline="30000" dirty="0"/>
                  <a:t>1</a:t>
                </a:r>
                <a:r>
                  <a:rPr lang="en-GB" sz="1400" dirty="0"/>
                  <a:t>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sz="1400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sz="14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sz="1400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400" baseline="30000" dirty="0"/>
                  <a:t>T</a:t>
                </a:r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sz="1400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sz="14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5673F28-432D-725E-E525-8DFF52D0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709" y="4957355"/>
                <a:ext cx="4615064" cy="1805110"/>
              </a:xfrm>
              <a:prstGeom prst="rect">
                <a:avLst/>
              </a:prstGeom>
              <a:blipFill>
                <a:blip r:embed="rId7"/>
                <a:stretch>
                  <a:fillRect l="-275" t="-699" b="-53147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715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3CAF-67E5-A0C7-06C6-19480BBF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E91CDD-18F1-FADB-E83D-3B77500F6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21" y="3258419"/>
            <a:ext cx="4673600" cy="323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547C46-2DD0-918F-6C8A-9BB6A5B9F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389" y="3180820"/>
            <a:ext cx="6005017" cy="3393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0392FF-C6C6-45A9-1DC4-8BF92533D0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68" t="16039"/>
          <a:stretch>
            <a:fillRect/>
          </a:stretch>
        </p:blipFill>
        <p:spPr>
          <a:xfrm>
            <a:off x="74172" y="283480"/>
            <a:ext cx="4991287" cy="2530439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28DA7B-1242-5DE1-006F-8AD49B534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421" y="283482"/>
            <a:ext cx="2126750" cy="253043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20A21-C865-1BA0-3E76-996854F2E15B}"/>
                  </a:ext>
                </a:extLst>
              </p:cNvPr>
              <p:cNvSpPr txBox="1"/>
              <p:nvPr/>
            </p:nvSpPr>
            <p:spPr>
              <a:xfrm>
                <a:off x="7701906" y="185604"/>
                <a:ext cx="2877120" cy="7855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/>
                  <a:t>Forward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020A21-C865-1BA0-3E76-996854F2E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906" y="185604"/>
                <a:ext cx="2877120" cy="785536"/>
              </a:xfrm>
              <a:prstGeom prst="rect">
                <a:avLst/>
              </a:prstGeom>
              <a:blipFill>
                <a:blip r:embed="rId6"/>
                <a:stretch>
                  <a:fillRect l="-881" t="-1587" b="-6349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6E27CA-7CAF-2CA5-2C10-03CB6722AF87}"/>
                  </a:ext>
                </a:extLst>
              </p:cNvPr>
              <p:cNvSpPr txBox="1"/>
              <p:nvPr/>
            </p:nvSpPr>
            <p:spPr>
              <a:xfrm>
                <a:off x="7701906" y="1008809"/>
                <a:ext cx="4615064" cy="1805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GB" sz="1400" b="1" dirty="0"/>
                  <a:t>Backward Pass:</a:t>
                </a: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:r>
                  <a:rPr lang="en-GB" sz="1400" dirty="0"/>
                  <a:t>Loss derivative</a:t>
                </a:r>
                <a:r>
                  <a:rPr lang="en-GB" sz="1400" baseline="30000" dirty="0"/>
                  <a:t>1</a:t>
                </a:r>
                <a:r>
                  <a:rPr lang="en-GB" sz="1400" dirty="0"/>
                  <a:t>: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]′</m:t>
                        </m:r>
                      </m:sup>
                    </m:sSup>
                    <m:d>
                      <m:d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nor/>
                      </m:rPr>
                      <a:rPr lang="ar-AE" sz="1400" b="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ar-AE" sz="1400" b="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b="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m:rPr>
                        <m:nor/>
                      </m:rPr>
                      <a:rPr lang="ar-AE" sz="1400" b="0" i="1" smtClean="0">
                        <a:latin typeface="Cambria Math" panose="02040503050406030204" pitchFamily="18" charset="0"/>
                      </a:rPr>
                      <m:t> </m:t>
                    </m:r>
                    <m:d>
                      <m:dPr>
                        <m:endChr m:val=""/>
                        <m:ctrlPr>
                          <a:rPr lang="ar-AE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b="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ℓ−1</m:t>
                                </m:r>
                              </m:e>
                            </m:d>
                          </m:sup>
                        </m:sSup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400" baseline="30000" dirty="0"/>
                  <a:t>T</a:t>
                </a:r>
                <a:endParaRPr lang="ar-AE" sz="1400" dirty="0"/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𝑑𝑍</m:t>
                    </m:r>
                    <m:d>
                      <m:dPr>
                        <m:begChr m:val="["/>
                        <m:endChr m:val="]"/>
                        <m:ctrlPr>
                          <a:rPr lang="ar-AE" sz="1400" b="0" i="1" baseline="30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400" b="0" i="0" baseline="300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𝑎𝑥𝑖𝑠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𝑘𝑒𝑒𝑝𝑑𝑖𝑚𝑠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i="1" baseline="30000" dirty="0">
                  <a:latin typeface="Cambria Math" panose="02040503050406030204" pitchFamily="18" charset="0"/>
                </a:endParaRPr>
              </a:p>
              <a:p>
                <a:pPr marL="176213" indent="-1762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d>
                          <m:dPr>
                            <m:begChr m:val="["/>
                            <m:endChr m:val="]"/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ℓ−1</m:t>
                            </m:r>
                          </m:e>
                        </m:d>
                      </m:sup>
                    </m:sSup>
                    <m:r>
                      <a:rPr lang="ar-AE" sz="14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ar-AE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sz="1400" i="0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ar-AE" sz="1400" b="0" i="1"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ar-AE" sz="1400" b="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ar-AE" sz="1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400" b="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ar-AE" sz="1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sz="1400" b="0" i="0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sz="1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6E27CA-7CAF-2CA5-2C10-03CB6722A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906" y="1008809"/>
                <a:ext cx="4615064" cy="1805110"/>
              </a:xfrm>
              <a:prstGeom prst="rect">
                <a:avLst/>
              </a:prstGeom>
              <a:blipFill>
                <a:blip r:embed="rId7"/>
                <a:stretch>
                  <a:fillRect l="-548" t="-699" b="-53147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395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895F3E3-CEAE-0E2E-B253-F81F11A2DA78}"/>
              </a:ext>
            </a:extLst>
          </p:cNvPr>
          <p:cNvGrpSpPr/>
          <p:nvPr/>
        </p:nvGrpSpPr>
        <p:grpSpPr>
          <a:xfrm>
            <a:off x="561788" y="832224"/>
            <a:ext cx="6627906" cy="3224306"/>
            <a:chOff x="239059" y="204694"/>
            <a:chExt cx="8483600" cy="4368800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2C39BC7F-AB2C-F860-E76B-64C0E5E7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3059" y="204694"/>
              <a:ext cx="4419600" cy="436880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8EABEE16-7083-9AEB-DFAD-A126A9108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9059" y="204694"/>
              <a:ext cx="4064000" cy="4368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661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1012</Words>
  <Application>Microsoft Macintosh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AL BAYAN PLAIN</vt:lpstr>
      <vt:lpstr>AL BAYAN PLAIN</vt:lpstr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Takis Fessas</dc:creator>
  <cp:lastModifiedBy>Takis Fessas</cp:lastModifiedBy>
  <cp:revision>19</cp:revision>
  <cp:lastPrinted>2025-08-29T20:11:02Z</cp:lastPrinted>
  <dcterms:created xsi:type="dcterms:W3CDTF">2025-08-27T18:35:58Z</dcterms:created>
  <dcterms:modified xsi:type="dcterms:W3CDTF">2025-08-30T01:34:33Z</dcterms:modified>
</cp:coreProperties>
</file>